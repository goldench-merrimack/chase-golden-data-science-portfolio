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84"/>
  </p:normalViewPr>
  <p:slideViewPr>
    <p:cSldViewPr snapToGrid="0">
      <p:cViewPr>
        <p:scale>
          <a:sx n="75" d="100"/>
          <a:sy n="75" d="100"/>
        </p:scale>
        <p:origin x="76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00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65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82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8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005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606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32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73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487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64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78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19038-977E-B346-9134-A19AA377EF42}" type="datetimeFigureOut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0AA6205-E7E6-8F41-9734-FA0693A083E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388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02D9-4E64-5E57-4641-14466B80C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Scientist salary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26327-9CAA-9BFE-B420-0FE27A9B45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Chase Golden </a:t>
            </a:r>
          </a:p>
          <a:p>
            <a:r>
              <a:rPr lang="en-US" dirty="0"/>
              <a:t>DSE5002: R Project </a:t>
            </a:r>
          </a:p>
        </p:txBody>
      </p:sp>
    </p:spTree>
    <p:extLst>
      <p:ext uri="{BB962C8B-B14F-4D97-AF65-F5344CB8AC3E}">
        <p14:creationId xmlns:p14="http://schemas.microsoft.com/office/powerpoint/2010/main" val="345101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A20FF-B8FD-3BE6-E965-59E6105C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Experience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51204-94F6-A8FB-4697-1831A863C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9302" y="3531204"/>
            <a:ext cx="2823919" cy="1610643"/>
          </a:xfrm>
        </p:spPr>
        <p:txBody>
          <a:bodyPr vert="horz" lIns="91440" tIns="91440" rIns="91440" bIns="91440" rtlCol="0">
            <a:normAutofit/>
          </a:bodyPr>
          <a:lstStyle/>
          <a:p>
            <a:r>
              <a:rPr lang="en-US" cap="all"/>
              <a:t>SALARY IN USD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with green and black boxes&#10;&#10;Description automatically generated">
            <a:extLst>
              <a:ext uri="{FF2B5EF4-FFF2-40B4-BE49-F238E27FC236}">
                <a16:creationId xmlns:a16="http://schemas.microsoft.com/office/drawing/2014/main" id="{482BC676-5F51-A74E-4878-550065A54A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41952" y="1116345"/>
            <a:ext cx="6235762" cy="38661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216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EB546-34DF-9287-5740-A14B2E66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COMPANY SIZE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14F39-C393-C5C1-E8F7-EE8ABCF13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9302" y="3531204"/>
            <a:ext cx="2823919" cy="1610643"/>
          </a:xfrm>
        </p:spPr>
        <p:txBody>
          <a:bodyPr vert="horz" lIns="91440" tIns="91440" rIns="91440" bIns="91440" rtlCol="0">
            <a:normAutofit/>
          </a:bodyPr>
          <a:lstStyle/>
          <a:p>
            <a:r>
              <a:rPr lang="en-US" cap="all"/>
              <a:t>SALARY IN USD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of a company size&#10;&#10;Description automatically generated">
            <a:extLst>
              <a:ext uri="{FF2B5EF4-FFF2-40B4-BE49-F238E27FC236}">
                <a16:creationId xmlns:a16="http://schemas.microsoft.com/office/drawing/2014/main" id="{598011EE-2E93-049C-CEDB-41DE0156E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41952" y="1116345"/>
            <a:ext cx="6235762" cy="38661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1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963D0-5DDA-0A26-69FC-15019FF8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REMOTE WORK RATIO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5D341-B09B-A7D6-5799-4E35AC3E9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9302" y="3531204"/>
            <a:ext cx="2823919" cy="1610643"/>
          </a:xfrm>
        </p:spPr>
        <p:txBody>
          <a:bodyPr vert="horz" lIns="91440" tIns="91440" rIns="91440" bIns="91440" rtlCol="0">
            <a:normAutofit/>
          </a:bodyPr>
          <a:lstStyle/>
          <a:p>
            <a:r>
              <a:rPr lang="en-US" cap="all"/>
              <a:t>SALARY IN USD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of a remote work distribution&#10;&#10;Description automatically generated">
            <a:extLst>
              <a:ext uri="{FF2B5EF4-FFF2-40B4-BE49-F238E27FC236}">
                <a16:creationId xmlns:a16="http://schemas.microsoft.com/office/drawing/2014/main" id="{F3612D46-2DDE-DACE-5FA1-7F74F7FD8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41952" y="1116345"/>
            <a:ext cx="6235762" cy="38661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10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AD492-863F-02CB-1FF6-F5705D55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 err="1"/>
              <a:t>U.s.</a:t>
            </a:r>
            <a:r>
              <a:rPr lang="en-US" sz="3600" dirty="0"/>
              <a:t> vs offshore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of a salary&#10;&#10;Description automatically generated">
            <a:extLst>
              <a:ext uri="{FF2B5EF4-FFF2-40B4-BE49-F238E27FC236}">
                <a16:creationId xmlns:a16="http://schemas.microsoft.com/office/drawing/2014/main" id="{F670D2D7-3E59-24F8-EBC1-C866B25A1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41952" y="1116345"/>
            <a:ext cx="6235762" cy="38661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25CC6-6E4C-B76A-1FCA-3A58A4F2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496" y="3578135"/>
            <a:ext cx="3275013" cy="2248181"/>
          </a:xfrm>
        </p:spPr>
        <p:txBody>
          <a:bodyPr/>
          <a:lstStyle/>
          <a:p>
            <a:r>
              <a:rPr lang="en-US" dirty="0"/>
              <a:t>SALARY IN USD</a:t>
            </a:r>
          </a:p>
        </p:txBody>
      </p:sp>
    </p:spTree>
    <p:extLst>
      <p:ext uri="{BB962C8B-B14F-4D97-AF65-F5344CB8AC3E}">
        <p14:creationId xmlns:p14="http://schemas.microsoft.com/office/powerpoint/2010/main" val="3488518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1B38-9961-D888-8F33-C5A6ECAF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SCIENTIST SEARCH CONCLUSION</a:t>
            </a:r>
          </a:p>
        </p:txBody>
      </p:sp>
      <p:pic>
        <p:nvPicPr>
          <p:cNvPr id="6" name="Content Placeholder 5" descr="A graph with a purple bar&#10;&#10;Description automatically generated">
            <a:extLst>
              <a:ext uri="{FF2B5EF4-FFF2-40B4-BE49-F238E27FC236}">
                <a16:creationId xmlns:a16="http://schemas.microsoft.com/office/drawing/2014/main" id="{588B2ADD-4B6A-F9E9-28B7-9570FD8D5E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291418"/>
            <a:ext cx="4645025" cy="288794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8A068-42B0-4B03-E195-1FB5A5CAF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9700" y="2920339"/>
            <a:ext cx="4645152" cy="163009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Senior Level Data Scientist+</a:t>
            </a:r>
          </a:p>
          <a:p>
            <a:r>
              <a:rPr lang="en-US" dirty="0"/>
              <a:t>U.S. Based (Especially for Lead Possibilities)</a:t>
            </a:r>
          </a:p>
          <a:p>
            <a:r>
              <a:rPr lang="en-US" dirty="0"/>
              <a:t>Partially Remote</a:t>
            </a:r>
          </a:p>
          <a:p>
            <a:r>
              <a:rPr lang="en-US" dirty="0"/>
              <a:t>Based on Small-Medium Company Size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90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53920-9C0D-80B7-8972-23D19B51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9D4B225-18E9-4C5B-94D8-2ABE6D16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with a purple bar&#10;&#10;Description automatically generated">
            <a:extLst>
              <a:ext uri="{FF2B5EF4-FFF2-40B4-BE49-F238E27FC236}">
                <a16:creationId xmlns:a16="http://schemas.microsoft.com/office/drawing/2014/main" id="{4FFCC2D8-3779-17E0-9678-F175BBCDD8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alphaModFix amt="50000"/>
          </a:blip>
          <a:srcRect t="9636" r="-1" b="-1"/>
          <a:stretch/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36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8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971D3-FBC4-7652-304F-399B2DFC9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DATA SCIENTIST SEARCH CONCLUSION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BDC7A-370B-84B6-3805-950A9B136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6636" y="1193800"/>
            <a:ext cx="6085091" cy="4699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Based on the previous data analysis, I would recommend offering the salary range of $140,000-$190,000</a:t>
            </a:r>
          </a:p>
          <a:p>
            <a:r>
              <a:rPr lang="en-US"/>
              <a:t>This range would give the company a strongly competitive standing while attracting top talent</a:t>
            </a:r>
          </a:p>
          <a:p>
            <a:r>
              <a:rPr lang="en-US"/>
              <a:t>The higher end of the range is certainly enough to bring in a high-level data scientist that is more than capable of leading a team right away</a:t>
            </a:r>
          </a:p>
          <a:p>
            <a:endParaRPr lang="en-US"/>
          </a:p>
        </p:txBody>
      </p:sp>
      <p:sp>
        <p:nvSpPr>
          <p:cNvPr id="44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775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45</TotalTime>
  <Words>126</Words>
  <Application>Microsoft Macintosh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Data Scientist salary analysis</vt:lpstr>
      <vt:lpstr>Experience level</vt:lpstr>
      <vt:lpstr>COMPANY SIZE</vt:lpstr>
      <vt:lpstr>REMOTE WORK RATIO</vt:lpstr>
      <vt:lpstr>U.s. vs offshore</vt:lpstr>
      <vt:lpstr>DATA SCIENTIST SEARCH CONCLUSION</vt:lpstr>
      <vt:lpstr>DATA SCIENTIST SEARCH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Chase A. Golden</dc:creator>
  <cp:lastModifiedBy>Chase A. Golden</cp:lastModifiedBy>
  <cp:revision>2</cp:revision>
  <dcterms:created xsi:type="dcterms:W3CDTF">2024-12-02T04:00:59Z</dcterms:created>
  <dcterms:modified xsi:type="dcterms:W3CDTF">2024-12-02T04:46:18Z</dcterms:modified>
</cp:coreProperties>
</file>